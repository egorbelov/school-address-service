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46"/>
    <a:srgbClr val="029C63"/>
    <a:srgbClr val="96628C"/>
    <a:srgbClr val="11A0D7"/>
    <a:srgbClr val="E61F3D"/>
    <a:srgbClr val="CD5A5A"/>
    <a:srgbClr val="0E2D69"/>
    <a:srgbClr val="D9D9D9"/>
    <a:srgbClr val="EB681F"/>
    <a:srgbClr val="234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35" autoAdjust="0"/>
    <p:restoredTop sz="81378" autoAdjust="0"/>
  </p:normalViewPr>
  <p:slideViewPr>
    <p:cSldViewPr snapToGrid="0" snapToObjects="1">
      <p:cViewPr varScale="1">
        <p:scale>
          <a:sx n="95" d="100"/>
          <a:sy n="95" d="100"/>
        </p:scale>
        <p:origin x="1536" y="176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6/19/26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23309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9616" y="258680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747573" y="189688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684653" y="239854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255590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192024"/>
            <a:ext cx="936672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fld id="{32AF94B5-93D7-5247-B727-C7089232F508}" type="slidenum">
              <a:rPr lang="ru-RU" sz="105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r>
              <a:rPr lang="en-US" sz="1050" dirty="0">
                <a:solidFill>
                  <a:srgbClr val="102D69"/>
                </a:solidFill>
                <a:latin typeface="HSE Sans" panose="02000000000000000000" pitchFamily="2" charset="0"/>
              </a:rPr>
              <a:t> / </a:t>
            </a:r>
            <a:r>
              <a:rPr lang="ru-RU" sz="1050" dirty="0">
                <a:solidFill>
                  <a:srgbClr val="102D69"/>
                </a:solidFill>
                <a:latin typeface="HSE Sans" panose="02000000000000000000" pitchFamily="2" charset="0"/>
              </a:rPr>
              <a:t>19</a:t>
            </a: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239854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243698"/>
            <a:ext cx="2470764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Разработка приложения для распознавания и поиска объектов на видеоизображении в социальных сетях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36586" y="234170"/>
            <a:ext cx="102971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Белов Егор</a:t>
            </a: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81393" y="243698"/>
            <a:ext cx="1130122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Защита ВКР</a:t>
            </a:r>
          </a:p>
          <a:p>
            <a:r>
              <a:rPr lang="ru-RU" sz="1000" dirty="0">
                <a:latin typeface="HSE Sans" panose="02000000000000000000" pitchFamily="2" charset="0"/>
              </a:rPr>
              <a:t>Пермь</a:t>
            </a:r>
          </a:p>
          <a:p>
            <a:r>
              <a:rPr lang="ru-RU" sz="1000" dirty="0">
                <a:latin typeface="HSE Sans" panose="02000000000000000000" pitchFamily="2" charset="0"/>
              </a:rPr>
              <a:t>06.06.2025</a:t>
            </a: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9449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 / 26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404671"/>
            <a:ext cx="10104631" cy="1306718"/>
          </a:xfrm>
        </p:spPr>
        <p:txBody>
          <a:bodyPr wrap="square">
            <a:normAutofit/>
          </a:bodyPr>
          <a:lstStyle/>
          <a:p>
            <a:r>
              <a:rPr sz="2600" b="1" dirty="0" err="1">
                <a:solidFill>
                  <a:srgbClr val="0F2C68"/>
                </a:solidFill>
                <a:latin typeface="HSE Sans"/>
              </a:rPr>
              <a:t>Разработка</a:t>
            </a:r>
            <a:r>
              <a:rPr sz="2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2600" b="1" dirty="0" err="1">
                <a:solidFill>
                  <a:srgbClr val="0F2C68"/>
                </a:solidFill>
                <a:latin typeface="HSE Sans"/>
              </a:rPr>
              <a:t>веб-сервиса</a:t>
            </a:r>
            <a:r>
              <a:rPr sz="2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2600" b="1" dirty="0" err="1">
                <a:solidFill>
                  <a:srgbClr val="0F2C68"/>
                </a:solidFill>
                <a:latin typeface="HSE Sans"/>
              </a:rPr>
              <a:t>определения</a:t>
            </a:r>
            <a:r>
              <a:rPr sz="2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2600" b="1" dirty="0" err="1">
                <a:solidFill>
                  <a:srgbClr val="0F2C68"/>
                </a:solidFill>
                <a:latin typeface="HSE Sans"/>
              </a:rPr>
              <a:t>школы</a:t>
            </a:r>
            <a:r>
              <a:rPr sz="2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2600" b="1" dirty="0" err="1">
                <a:solidFill>
                  <a:srgbClr val="0F2C68"/>
                </a:solidFill>
                <a:latin typeface="HSE Sans"/>
              </a:rPr>
              <a:t>по</a:t>
            </a:r>
            <a:r>
              <a:rPr sz="2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2600" b="1" dirty="0" err="1">
                <a:solidFill>
                  <a:srgbClr val="0F2C68"/>
                </a:solidFill>
                <a:latin typeface="HSE Sans"/>
              </a:rPr>
              <a:t>адресу</a:t>
            </a:r>
            <a:r>
              <a:rPr sz="2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2600" b="1" dirty="0" err="1">
                <a:solidFill>
                  <a:srgbClr val="0F2C68"/>
                </a:solidFill>
                <a:latin typeface="HSE Sans"/>
              </a:rPr>
              <a:t>проживания</a:t>
            </a:r>
            <a:r>
              <a:rPr sz="2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2600" b="1" dirty="0" err="1">
                <a:solidFill>
                  <a:srgbClr val="0F2C68"/>
                </a:solidFill>
                <a:latin typeface="HSE Sans"/>
              </a:rPr>
              <a:t>на</a:t>
            </a:r>
            <a:r>
              <a:rPr sz="2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2600" b="1" dirty="0" err="1">
                <a:solidFill>
                  <a:srgbClr val="0F2C68"/>
                </a:solidFill>
                <a:latin typeface="HSE Sans"/>
              </a:rPr>
              <a:t>основе</a:t>
            </a:r>
            <a:r>
              <a:rPr sz="2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2600" b="1" dirty="0" err="1">
                <a:solidFill>
                  <a:srgbClr val="0F2C68"/>
                </a:solidFill>
                <a:latin typeface="HSE Sans"/>
              </a:rPr>
              <a:t>муниципальных</a:t>
            </a:r>
            <a:r>
              <a:rPr sz="2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2600" b="1" dirty="0" err="1">
                <a:solidFill>
                  <a:srgbClr val="0F2C68"/>
                </a:solidFill>
                <a:latin typeface="HSE Sans"/>
              </a:rPr>
              <a:t>постановлений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873239" y="1187841"/>
            <a:ext cx="929667" cy="463186"/>
          </a:xfrm>
        </p:spPr>
        <p:txBody>
          <a:bodyPr wrap="square">
            <a:noAutofit/>
          </a:bodyPr>
          <a:lstStyle/>
          <a:p>
            <a:r>
              <a:rPr sz="1600" dirty="0" err="1">
                <a:latin typeface="HSE Sans"/>
              </a:rPr>
              <a:t>Пермь</a:t>
            </a:r>
            <a:endParaRPr lang="ru-RU" sz="1600" dirty="0"/>
          </a:p>
          <a:p>
            <a:r>
              <a:rPr sz="1600" dirty="0">
                <a:latin typeface="HSE Sans"/>
              </a:rPr>
              <a:t>2026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14690F36-FB51-4F4B-99B0-413E412326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7967" y="4471732"/>
            <a:ext cx="5434244" cy="654050"/>
          </a:xfrm>
        </p:spPr>
        <p:txBody>
          <a:bodyPr wrap="square">
            <a:normAutofit/>
          </a:bodyPr>
          <a:lstStyle/>
          <a:p>
            <a:r>
              <a:rPr sz="1800">
                <a:latin typeface="HSE Sans"/>
              </a:rPr>
              <a:t>Работу выполнила команда БА-25:</a:t>
            </a:r>
            <a:endParaRPr lang="ru-RU" sz="2100" dirty="0"/>
          </a:p>
          <a:p>
            <a:r>
              <a:rPr sz="1800">
                <a:latin typeface="HSE Sans"/>
              </a:rPr>
              <a:t>Беляева К.С., Туксаитова Д.Э., Капралова Е.А.,</a:t>
            </a:r>
            <a:endParaRPr lang="ru-RU" sz="2100" dirty="0"/>
          </a:p>
          <a:p>
            <a:r>
              <a:rPr sz="1800">
                <a:latin typeface="HSE Sans"/>
              </a:rPr>
              <a:t>Мартюшев А.С., Галинов О.Ю., Белов Е.А.</a:t>
            </a:r>
            <a:endParaRPr lang="ru-RU" sz="2100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4FCE93C6-82A9-45CB-9F11-05B8D054F948}"/>
              </a:ext>
            </a:extLst>
          </p:cNvPr>
          <p:cNvSpPr txBox="1">
            <a:spLocks/>
          </p:cNvSpPr>
          <p:nvPr/>
        </p:nvSpPr>
        <p:spPr>
          <a:xfrm>
            <a:off x="7191909" y="4408043"/>
            <a:ext cx="4119937" cy="140712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800">
                <a:latin typeface="HSE Sans"/>
              </a:rPr>
              <a:t>Руководитель проекта:</a:t>
            </a:r>
            <a:endParaRPr lang="ru-RU" sz="2000" dirty="0"/>
          </a:p>
          <a:p>
            <a:r>
              <a:rPr sz="1400">
                <a:latin typeface="HSE Sans"/>
              </a:rPr>
              <a:t>Приглашённый преподаватель</a:t>
            </a:r>
          </a:p>
          <a:p>
            <a:r>
              <a:rPr sz="1400" b="1">
                <a:latin typeface="HSE Sans"/>
              </a:rPr>
              <a:t>Паньков И.В.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93AC612D-B865-4650-A821-BE0DF0BD17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59420" y="1198695"/>
            <a:ext cx="2278063" cy="463186"/>
          </a:xfrm>
        </p:spPr>
        <p:txBody>
          <a:bodyPr wrap="square">
            <a:normAutofit/>
          </a:bodyPr>
          <a:lstStyle/>
          <a:p>
            <a:r>
              <a:rPr sz="1600" dirty="0">
                <a:latin typeface="HSE Sans"/>
              </a:rPr>
              <a:t>«Бизнес-аналитика»</a:t>
            </a:r>
            <a:endParaRPr lang="ru-RU" sz="1600" dirty="0"/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662F2909-31F3-4434-BB7F-534E5BFDC1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74947" y="1187841"/>
            <a:ext cx="3848717" cy="435163"/>
          </a:xfrm>
        </p:spPr>
        <p:txBody>
          <a:bodyPr wrap="square"/>
          <a:lstStyle/>
          <a:p>
            <a:r>
              <a:rPr sz="1600" dirty="0" err="1">
                <a:latin typeface="HSE Sans"/>
              </a:rPr>
              <a:t>Магистерская школа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Беляева К.С.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Актуальность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65836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Закрепление школ за территориями ежегодно оформляется муниципальным постановлением (ФЗ № 273-ФЗ).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Тысячи правил «улица — диапазон домов — школа» хранятся в .doc, .docx и скан-PDF.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Семья тратит время на ручный поиск в многостраничной таблице с алиасами и исключениями.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Сотрудник управления образования сверяет каждый адрес вручную — рост времени и риск ошибки.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Открытые ГИС-порталы и Госуслуги не закрывают полный цикл от импорта документа до поиска.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783080"/>
            <a:ext cx="4206240" cy="1325880"/>
          </a:xfrm>
          <a:prstGeom prst="rect">
            <a:avLst/>
          </a:prstGeom>
          <a:solidFill>
            <a:srgbClr val="EAEFF7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/>
          <a:lstStyle/>
          <a:p>
            <a:pPr algn="ctr"/>
            <a:r>
              <a:rPr sz="1500" b="1" dirty="0" err="1">
                <a:solidFill>
                  <a:srgbClr val="0F2C68"/>
                </a:solidFill>
                <a:latin typeface="HSE Sans"/>
              </a:rPr>
              <a:t>Проблема</a:t>
            </a:r>
            <a:endParaRPr sz="1500" b="1" dirty="0">
              <a:solidFill>
                <a:srgbClr val="0F2C68"/>
              </a:solidFill>
              <a:latin typeface="HSE Sans"/>
            </a:endParaRPr>
          </a:p>
          <a:p>
            <a:pPr>
              <a:spcBef>
                <a:spcPts val="300"/>
              </a:spcBef>
            </a:pPr>
            <a:r>
              <a:rPr sz="1400" dirty="0" err="1">
                <a:solidFill>
                  <a:srgbClr val="595959"/>
                </a:solidFill>
                <a:latin typeface="HSE Sans"/>
              </a:rPr>
              <a:t>Правила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закрепления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школ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заперты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в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неструктурированных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постановлениях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разных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форматов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3291840"/>
            <a:ext cx="4206240" cy="1417320"/>
          </a:xfrm>
          <a:prstGeom prst="rect">
            <a:avLst/>
          </a:prstGeom>
          <a:solidFill>
            <a:srgbClr val="E3F0E6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/>
          <a:lstStyle/>
          <a:p>
            <a:pPr algn="ctr"/>
            <a:r>
              <a:rPr sz="1500" b="1" dirty="0" err="1">
                <a:solidFill>
                  <a:srgbClr val="0F2C68"/>
                </a:solidFill>
                <a:latin typeface="HSE Sans"/>
              </a:rPr>
              <a:t>Решение</a:t>
            </a:r>
            <a:endParaRPr sz="1500" b="1" dirty="0">
              <a:solidFill>
                <a:srgbClr val="0F2C68"/>
              </a:solidFill>
              <a:latin typeface="HSE Sans"/>
            </a:endParaRPr>
          </a:p>
          <a:p>
            <a:pPr>
              <a:spcBef>
                <a:spcPts val="300"/>
              </a:spcBef>
            </a:pPr>
            <a:r>
              <a:rPr sz="1600" dirty="0" err="1">
                <a:solidFill>
                  <a:srgbClr val="595959"/>
                </a:solidFill>
                <a:latin typeface="HSE Sans"/>
              </a:rPr>
              <a:t>Веб-сервис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загрузка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постановления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→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структурный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парсинг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→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поиск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школы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по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адресу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с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правилом-основанием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4892040"/>
            <a:ext cx="4206240" cy="1325880"/>
          </a:xfrm>
          <a:prstGeom prst="rect">
            <a:avLst/>
          </a:prstGeom>
          <a:solidFill>
            <a:srgbClr val="FDEFE3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/>
          <a:lstStyle/>
          <a:p>
            <a:pPr algn="ctr"/>
            <a:r>
              <a:rPr sz="1500" b="1" dirty="0" err="1">
                <a:solidFill>
                  <a:srgbClr val="0F2C68"/>
                </a:solidFill>
                <a:latin typeface="HSE Sans"/>
              </a:rPr>
              <a:t>Отличие</a:t>
            </a:r>
            <a:endParaRPr sz="1500" b="1" dirty="0">
              <a:solidFill>
                <a:srgbClr val="0F2C68"/>
              </a:solidFill>
              <a:latin typeface="HSE Sans"/>
            </a:endParaRPr>
          </a:p>
          <a:p>
            <a:pPr>
              <a:spcBef>
                <a:spcPts val="300"/>
              </a:spcBef>
            </a:pPr>
            <a:r>
              <a:rPr sz="1600" dirty="0" err="1">
                <a:solidFill>
                  <a:srgbClr val="595959"/>
                </a:solidFill>
                <a:latin typeface="HSE Sans"/>
              </a:rPr>
              <a:t>Структурный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анализ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табличной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части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до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обращения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к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LLM —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бесплатно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и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мгновенно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для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типовых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форматов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Беляева К.С.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Цель проекта и состав команды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5303520" cy="2926080"/>
          </a:xfrm>
          <a:prstGeom prst="rect">
            <a:avLst/>
          </a:prstGeom>
          <a:solidFill>
            <a:srgbClr val="EAEFF7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/>
          <a:lstStyle/>
          <a:p>
            <a:pPr algn="ctr"/>
            <a:r>
              <a:rPr sz="2400" b="1" dirty="0" err="1">
                <a:solidFill>
                  <a:srgbClr val="0F2C68"/>
                </a:solidFill>
                <a:latin typeface="HSE Sans"/>
              </a:rPr>
              <a:t>Цель</a:t>
            </a:r>
            <a:endParaRPr sz="2400" b="1" dirty="0">
              <a:solidFill>
                <a:srgbClr val="0F2C68"/>
              </a:solidFill>
              <a:latin typeface="HSE Sans"/>
            </a:endParaRPr>
          </a:p>
          <a:p>
            <a:pPr>
              <a:spcBef>
                <a:spcPts val="300"/>
              </a:spcBef>
            </a:pPr>
            <a:r>
              <a:rPr dirty="0" err="1">
                <a:solidFill>
                  <a:srgbClr val="595959"/>
                </a:solidFill>
                <a:latin typeface="HSE Sans"/>
              </a:rPr>
              <a:t>Разработать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веб-сервис</a:t>
            </a:r>
            <a:r>
              <a:rPr dirty="0">
                <a:solidFill>
                  <a:srgbClr val="595959"/>
                </a:solidFill>
                <a:latin typeface="HSE Sans"/>
              </a:rPr>
              <a:t>,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который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автоматически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разбирает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муниципальные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постановления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о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закреплении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школ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за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территориями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и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позволяет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находить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школу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по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адресу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проживания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с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указанием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правила-основания</a:t>
            </a:r>
            <a:r>
              <a:rPr dirty="0">
                <a:solidFill>
                  <a:srgbClr val="595959"/>
                </a:solidFill>
                <a:latin typeface="HSE Sans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2011680"/>
            <a:ext cx="5303520" cy="2926080"/>
          </a:xfrm>
          <a:prstGeom prst="rect">
            <a:avLst/>
          </a:prstGeom>
          <a:solidFill>
            <a:srgbClr val="E3F0E6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/>
          <a:lstStyle/>
          <a:p>
            <a:pPr algn="ctr"/>
            <a:r>
              <a:rPr sz="2400" b="1" dirty="0" err="1">
                <a:solidFill>
                  <a:srgbClr val="0F2C68"/>
                </a:solidFill>
                <a:latin typeface="HSE Sans"/>
              </a:rPr>
              <a:t>Команда</a:t>
            </a:r>
            <a:r>
              <a:rPr sz="24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2400" b="1" dirty="0" err="1">
                <a:solidFill>
                  <a:srgbClr val="0F2C68"/>
                </a:solidFill>
                <a:latin typeface="HSE Sans"/>
              </a:rPr>
              <a:t>из</a:t>
            </a:r>
            <a:r>
              <a:rPr sz="2400" b="1" dirty="0">
                <a:solidFill>
                  <a:srgbClr val="0F2C68"/>
                </a:solidFill>
                <a:latin typeface="HSE Sans"/>
              </a:rPr>
              <a:t> 6 </a:t>
            </a:r>
            <a:r>
              <a:rPr sz="2400" b="1" dirty="0" err="1">
                <a:solidFill>
                  <a:srgbClr val="0F2C68"/>
                </a:solidFill>
                <a:latin typeface="HSE Sans"/>
              </a:rPr>
              <a:t>ролей</a:t>
            </a:r>
            <a:endParaRPr sz="2400" b="1" dirty="0">
              <a:solidFill>
                <a:srgbClr val="0F2C68"/>
              </a:solidFill>
              <a:latin typeface="HSE Sans"/>
            </a:endParaRPr>
          </a:p>
          <a:p>
            <a:pPr>
              <a:spcBef>
                <a:spcPts val="300"/>
              </a:spcBef>
            </a:pPr>
            <a:r>
              <a:rPr dirty="0" err="1">
                <a:solidFill>
                  <a:srgbClr val="595959"/>
                </a:solidFill>
                <a:latin typeface="HSE Sans"/>
              </a:rPr>
              <a:t>Руководитель</a:t>
            </a:r>
            <a:r>
              <a:rPr dirty="0">
                <a:solidFill>
                  <a:srgbClr val="595959"/>
                </a:solidFill>
                <a:latin typeface="HSE Sans"/>
              </a:rPr>
              <a:t> —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Беляева</a:t>
            </a:r>
            <a:r>
              <a:rPr dirty="0">
                <a:solidFill>
                  <a:srgbClr val="595959"/>
                </a:solidFill>
                <a:latin typeface="HSE Sans"/>
              </a:rPr>
              <a:t> К.С.   ·   </a:t>
            </a:r>
            <a:endParaRPr lang="en-US" dirty="0">
              <a:solidFill>
                <a:srgbClr val="595959"/>
              </a:solidFill>
              <a:latin typeface="HSE Sans"/>
            </a:endParaRPr>
          </a:p>
          <a:p>
            <a:pPr>
              <a:spcBef>
                <a:spcPts val="300"/>
              </a:spcBef>
            </a:pPr>
            <a:r>
              <a:rPr dirty="0" err="1">
                <a:solidFill>
                  <a:srgbClr val="595959"/>
                </a:solidFill>
                <a:latin typeface="HSE Sans"/>
              </a:rPr>
              <a:t>Бизнес-аналитик</a:t>
            </a:r>
            <a:r>
              <a:rPr dirty="0">
                <a:solidFill>
                  <a:srgbClr val="595959"/>
                </a:solidFill>
                <a:latin typeface="HSE Sans"/>
              </a:rPr>
              <a:t> — </a:t>
            </a:r>
            <a:r>
              <a:rPr dirty="0" err="1">
                <a:solidFill>
                  <a:srgbClr val="595959"/>
                </a:solidFill>
                <a:latin typeface="HSE Sans"/>
              </a:rPr>
              <a:t>Туксаитова</a:t>
            </a:r>
            <a:r>
              <a:rPr dirty="0">
                <a:solidFill>
                  <a:srgbClr val="595959"/>
                </a:solidFill>
                <a:latin typeface="HSE Sans"/>
              </a:rPr>
              <a:t> Д.Э.
</a:t>
            </a:r>
            <a:r>
              <a:rPr dirty="0" err="1">
                <a:solidFill>
                  <a:srgbClr val="595959"/>
                </a:solidFill>
                <a:latin typeface="HSE Sans"/>
              </a:rPr>
              <a:t>Системный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аналитик</a:t>
            </a:r>
            <a:r>
              <a:rPr dirty="0">
                <a:solidFill>
                  <a:srgbClr val="595959"/>
                </a:solidFill>
                <a:latin typeface="HSE Sans"/>
              </a:rPr>
              <a:t> —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Капралова</a:t>
            </a:r>
            <a:r>
              <a:rPr dirty="0">
                <a:solidFill>
                  <a:srgbClr val="595959"/>
                </a:solidFill>
                <a:latin typeface="HSE Sans"/>
              </a:rPr>
              <a:t> Е.А.   ·   </a:t>
            </a:r>
            <a:endParaRPr lang="en-US" dirty="0">
              <a:solidFill>
                <a:srgbClr val="595959"/>
              </a:solidFill>
              <a:latin typeface="HSE Sans"/>
            </a:endParaRPr>
          </a:p>
          <a:p>
            <a:pPr>
              <a:spcBef>
                <a:spcPts val="300"/>
              </a:spcBef>
            </a:pPr>
            <a:r>
              <a:rPr dirty="0" err="1">
                <a:solidFill>
                  <a:srgbClr val="595959"/>
                </a:solidFill>
                <a:latin typeface="HSE Sans"/>
              </a:rPr>
              <a:t>Разработчик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сервиса</a:t>
            </a:r>
            <a:r>
              <a:rPr dirty="0">
                <a:solidFill>
                  <a:srgbClr val="595959"/>
                </a:solidFill>
                <a:latin typeface="HSE Sans"/>
              </a:rPr>
              <a:t> —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Мартюшев</a:t>
            </a:r>
            <a:r>
              <a:rPr dirty="0">
                <a:solidFill>
                  <a:srgbClr val="595959"/>
                </a:solidFill>
                <a:latin typeface="HSE Sans"/>
              </a:rPr>
              <a:t> А.С.
</a:t>
            </a:r>
            <a:r>
              <a:rPr dirty="0" err="1">
                <a:solidFill>
                  <a:srgbClr val="595959"/>
                </a:solidFill>
                <a:latin typeface="HSE Sans"/>
              </a:rPr>
              <a:t>Разработчик</a:t>
            </a:r>
            <a:r>
              <a:rPr dirty="0">
                <a:solidFill>
                  <a:srgbClr val="595959"/>
                </a:solidFill>
                <a:latin typeface="HSE Sans"/>
              </a:rPr>
              <a:t> ИИ-</a:t>
            </a:r>
            <a:r>
              <a:rPr dirty="0" err="1">
                <a:solidFill>
                  <a:srgbClr val="595959"/>
                </a:solidFill>
                <a:latin typeface="HSE Sans"/>
              </a:rPr>
              <a:t>агентов</a:t>
            </a:r>
            <a:r>
              <a:rPr dirty="0">
                <a:solidFill>
                  <a:srgbClr val="595959"/>
                </a:solidFill>
                <a:latin typeface="HSE Sans"/>
              </a:rPr>
              <a:t> —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Галинов</a:t>
            </a:r>
            <a:r>
              <a:rPr dirty="0">
                <a:solidFill>
                  <a:srgbClr val="595959"/>
                </a:solidFill>
                <a:latin typeface="HSE Sans"/>
              </a:rPr>
              <a:t> О.Ю.   ·   </a:t>
            </a:r>
            <a:endParaRPr lang="en-US" dirty="0">
              <a:solidFill>
                <a:srgbClr val="595959"/>
              </a:solidFill>
              <a:latin typeface="HSE Sans"/>
            </a:endParaRPr>
          </a:p>
          <a:p>
            <a:pPr>
              <a:spcBef>
                <a:spcPts val="300"/>
              </a:spcBef>
            </a:pPr>
            <a:r>
              <a:rPr dirty="0" err="1">
                <a:solidFill>
                  <a:srgbClr val="595959"/>
                </a:solidFill>
                <a:latin typeface="HSE Sans"/>
              </a:rPr>
              <a:t>Тестировщик</a:t>
            </a:r>
            <a:r>
              <a:rPr dirty="0">
                <a:solidFill>
                  <a:srgbClr val="595959"/>
                </a:solidFill>
                <a:latin typeface="HSE Sans"/>
              </a:rPr>
              <a:t> — Белов Е.А.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Беляева К.С.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Управление проектом и итоги команды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029200" cy="3017520"/>
          </a:xfrm>
          <a:prstGeom prst="rect">
            <a:avLst/>
          </a:prstGeom>
          <a:solidFill>
            <a:srgbClr val="EAEFF7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/>
          <a:lstStyle/>
          <a:p>
            <a:pPr algn="ctr"/>
            <a:r>
              <a:rPr sz="1500" b="1" dirty="0" err="1">
                <a:solidFill>
                  <a:srgbClr val="0F2C68"/>
                </a:solidFill>
                <a:latin typeface="HSE Sans"/>
              </a:rPr>
              <a:t>Подход</a:t>
            </a:r>
            <a:endParaRPr sz="1500" b="1" dirty="0">
              <a:solidFill>
                <a:srgbClr val="0F2C68"/>
              </a:solidFill>
              <a:latin typeface="HSE Sans"/>
            </a:endParaRPr>
          </a:p>
          <a:p>
            <a:pPr>
              <a:spcBef>
                <a:spcPts val="300"/>
              </a:spcBef>
            </a:pPr>
            <a:r>
              <a:rPr sz="2000" dirty="0">
                <a:solidFill>
                  <a:srgbClr val="595959"/>
                </a:solidFill>
                <a:latin typeface="HSE Sans"/>
              </a:rPr>
              <a:t>WBS-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декомпозиция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 (6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этапов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),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диаграмма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Ганта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, RACI-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матрица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,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реестр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из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 10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рисков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, Definition of Done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под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задачи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разработки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,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аналитики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и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тестирования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.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Еженедельные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созвоны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, code review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перед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 merge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в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 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554480"/>
            <a:ext cx="58521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Реализовано 11 функциональных и 6 нефункциональных требований (все приняты тестами).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3 муниципалитета, 3 формата постановлений, 2 структурные стратегии разбора + LLM-fallback.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≈ 700 правил закрепления загружены и протестированы на реальных документах.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Полный цикл от импорта документа до поиска школы реализован и проверен.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Трудозатраты превысили план на 15% — выводы вынесены в ретроспективу.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Восемь из десяти найденных дефектов устранены до защиты.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Туксаитова Д.Э.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Oval 4"/>
          <p:cNvSpPr/>
          <p:nvPr/>
        </p:nvSpPr>
        <p:spPr>
          <a:xfrm>
            <a:off x="4041648" y="2788920"/>
            <a:ext cx="4114800" cy="1371600"/>
          </a:xfrm>
          <a:prstGeom prst="ellipse">
            <a:avLst/>
          </a:prstGeom>
          <a:solidFill>
            <a:srgbClr val="0F2C6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HSE Sans"/>
              </a:rPr>
              <a:t>Стейкхолдеры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325880"/>
            <a:ext cx="3291840" cy="1325880"/>
          </a:xfrm>
          <a:prstGeom prst="ellipse">
            <a:avLst/>
          </a:prstGeom>
          <a:solidFill>
            <a:srgbClr val="4472C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HSE Sans"/>
              </a:rPr>
              <a:t>Родитель: ищет школу по адресу ребёнка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4297680"/>
            <a:ext cx="3291840" cy="1325880"/>
          </a:xfrm>
          <a:prstGeom prst="ellipse">
            <a:avLst/>
          </a:prstGeom>
          <a:solidFill>
            <a:srgbClr val="4472C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HSE Sans"/>
              </a:rPr>
              <a:t>Сотрудник управления образования: сверка адреса и приём заявлений</a:t>
            </a:r>
          </a:p>
        </p:txBody>
      </p:sp>
      <p:sp>
        <p:nvSpPr>
          <p:cNvPr id="8" name="Oval 7"/>
          <p:cNvSpPr/>
          <p:nvPr/>
        </p:nvSpPr>
        <p:spPr>
          <a:xfrm>
            <a:off x="4480560" y="5029200"/>
            <a:ext cx="3246120" cy="1325880"/>
          </a:xfrm>
          <a:prstGeom prst="ellipse">
            <a:avLst/>
          </a:prstGeom>
          <a:solidFill>
            <a:srgbClr val="4472C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HSE Sans"/>
              </a:rPr>
              <a:t>Руководитель УО: снижение жалоб, отчётность</a:t>
            </a:r>
          </a:p>
        </p:txBody>
      </p:sp>
      <p:sp>
        <p:nvSpPr>
          <p:cNvPr id="9" name="Oval 8"/>
          <p:cNvSpPr/>
          <p:nvPr/>
        </p:nvSpPr>
        <p:spPr>
          <a:xfrm>
            <a:off x="8412480" y="1325880"/>
            <a:ext cx="3291840" cy="1325880"/>
          </a:xfrm>
          <a:prstGeom prst="ellipse">
            <a:avLst/>
          </a:prstGeom>
          <a:solidFill>
            <a:srgbClr val="4472C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HSE Sans"/>
              </a:rPr>
              <a:t>Школа: входящий поток заявлений в своём микрорайоне</a:t>
            </a:r>
          </a:p>
        </p:txBody>
      </p:sp>
      <p:sp>
        <p:nvSpPr>
          <p:cNvPr id="10" name="Oval 9"/>
          <p:cNvSpPr/>
          <p:nvPr/>
        </p:nvSpPr>
        <p:spPr>
          <a:xfrm>
            <a:off x="8275320" y="4297680"/>
            <a:ext cx="3291840" cy="1325880"/>
          </a:xfrm>
          <a:prstGeom prst="ellipse">
            <a:avLst/>
          </a:prstGeom>
          <a:solidFill>
            <a:srgbClr val="4472C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HSE Sans"/>
              </a:rPr>
              <a:t>Норматив: ФЗ № 273-ФЗ ст. 9 ч. 6, приказ Минпросвещения № 458, муниципальные постановления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Туксаитова Д.Э.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97948"/>
            <a:ext cx="216497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 err="1">
                <a:solidFill>
                  <a:srgbClr val="0F2C68"/>
                </a:solidFill>
                <a:latin typeface="HSE Sans"/>
              </a:rPr>
              <a:t>Процесс</a:t>
            </a:r>
            <a:r>
              <a:rPr sz="32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3200" b="1" dirty="0" err="1">
                <a:solidFill>
                  <a:srgbClr val="0F2C68"/>
                </a:solidFill>
                <a:latin typeface="HSE Sans"/>
              </a:rPr>
              <a:t>родителя</a:t>
            </a:r>
            <a:r>
              <a:rPr sz="3200" b="1" dirty="0">
                <a:solidFill>
                  <a:srgbClr val="0F2C68"/>
                </a:solidFill>
                <a:latin typeface="HSE Sans"/>
              </a:rPr>
              <a:t>: AS-IS → TO-BE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95959"/>
                </a:solidFill>
                <a:latin typeface="HSE Sans"/>
              </a:rPr>
              <a:t>Главное изменение CJM: пользователь не ищет документ и не интерпретирует таблицу — он вводит адрес и получает результат.</a:t>
            </a:r>
          </a:p>
        </p:txBody>
      </p:sp>
      <p:pic>
        <p:nvPicPr>
          <p:cNvPr id="8" name="Picture 7" descr="tuks_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417" y="626970"/>
            <a:ext cx="7632013" cy="3028577"/>
          </a:xfrm>
          <a:prstGeom prst="rect">
            <a:avLst/>
          </a:prstGeom>
        </p:spPr>
      </p:pic>
      <p:pic>
        <p:nvPicPr>
          <p:cNvPr id="9" name="Picture 8" descr="tuks_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417" y="3429000"/>
            <a:ext cx="8116824" cy="28783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Туксаитова Д.Э.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Бизнес-требования и KPI продукта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33687"/>
            <a:ext cx="9117106" cy="35855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b="0" dirty="0">
                <a:solidFill>
                  <a:srgbClr val="0F2C68"/>
                </a:solidFill>
                <a:latin typeface="HSE Sans"/>
              </a:rPr>
              <a:t>•  BR-01.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Публичный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поиск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школы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по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адресу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без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авторизации</a:t>
            </a:r>
            <a:r>
              <a:rPr b="0" dirty="0">
                <a:solidFill>
                  <a:srgbClr val="0F2C68"/>
                </a:solidFill>
                <a:latin typeface="HSE Sans"/>
              </a:rPr>
              <a:t> (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родитель</a:t>
            </a:r>
            <a:r>
              <a:rPr b="0" dirty="0">
                <a:solidFill>
                  <a:srgbClr val="0F2C68"/>
                </a:solidFill>
                <a:latin typeface="HSE Sans"/>
              </a:rPr>
              <a:t>).</a:t>
            </a:r>
          </a:p>
          <a:p>
            <a:pPr>
              <a:spcAft>
                <a:spcPts val="1300"/>
              </a:spcAft>
            </a:pPr>
            <a:r>
              <a:rPr b="0" dirty="0">
                <a:solidFill>
                  <a:srgbClr val="0F2C68"/>
                </a:solidFill>
                <a:latin typeface="HSE Sans"/>
              </a:rPr>
              <a:t>•  BR-02.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Сохранение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правила-основания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и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ссылки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на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постановление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для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проверяемости</a:t>
            </a:r>
            <a:r>
              <a:rPr b="0" dirty="0">
                <a:solidFill>
                  <a:srgbClr val="0F2C68"/>
                </a:solidFill>
                <a:latin typeface="HSE Sans"/>
              </a:rPr>
              <a:t>.</a:t>
            </a:r>
          </a:p>
          <a:p>
            <a:pPr>
              <a:spcAft>
                <a:spcPts val="1300"/>
              </a:spcAft>
            </a:pPr>
            <a:r>
              <a:rPr b="0" dirty="0">
                <a:solidFill>
                  <a:srgbClr val="0F2C68"/>
                </a:solidFill>
                <a:latin typeface="HSE Sans"/>
              </a:rPr>
              <a:t>•  BR-03.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Толерантность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к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падежам</a:t>
            </a:r>
            <a:r>
              <a:rPr b="0" dirty="0">
                <a:solidFill>
                  <a:srgbClr val="0F2C68"/>
                </a:solidFill>
                <a:latin typeface="HSE Sans"/>
              </a:rPr>
              <a:t>,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букве</a:t>
            </a:r>
            <a:r>
              <a:rPr b="0" dirty="0">
                <a:solidFill>
                  <a:srgbClr val="0F2C68"/>
                </a:solidFill>
                <a:latin typeface="HSE Sans"/>
              </a:rPr>
              <a:t> «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ё</a:t>
            </a:r>
            <a:r>
              <a:rPr b="0" dirty="0">
                <a:solidFill>
                  <a:srgbClr val="0F2C68"/>
                </a:solidFill>
                <a:latin typeface="HSE Sans"/>
              </a:rPr>
              <a:t>»,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вариантам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записи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улиц</a:t>
            </a:r>
            <a:r>
              <a:rPr b="0" dirty="0">
                <a:solidFill>
                  <a:srgbClr val="0F2C68"/>
                </a:solidFill>
                <a:latin typeface="HSE Sans"/>
              </a:rPr>
              <a:t>.</a:t>
            </a:r>
          </a:p>
          <a:p>
            <a:pPr>
              <a:spcAft>
                <a:spcPts val="1300"/>
              </a:spcAft>
            </a:pPr>
            <a:r>
              <a:rPr b="0" dirty="0">
                <a:solidFill>
                  <a:srgbClr val="0F2C68"/>
                </a:solidFill>
                <a:latin typeface="HSE Sans"/>
              </a:rPr>
              <a:t>•  BR-04.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Импорт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постановлений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в</a:t>
            </a:r>
            <a:r>
              <a:rPr b="0" dirty="0">
                <a:solidFill>
                  <a:srgbClr val="0F2C68"/>
                </a:solidFill>
                <a:latin typeface="HSE Sans"/>
              </a:rPr>
              <a:t> .doc, .docx, .pdf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через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одно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окно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администратора</a:t>
            </a:r>
            <a:r>
              <a:rPr b="0" dirty="0">
                <a:solidFill>
                  <a:srgbClr val="0F2C68"/>
                </a:solidFill>
                <a:latin typeface="HSE Sans"/>
              </a:rPr>
              <a:t>.</a:t>
            </a:r>
          </a:p>
          <a:p>
            <a:pPr>
              <a:spcAft>
                <a:spcPts val="1300"/>
              </a:spcAft>
            </a:pPr>
            <a:r>
              <a:rPr b="0" dirty="0">
                <a:solidFill>
                  <a:srgbClr val="0F2C68"/>
                </a:solidFill>
                <a:latin typeface="HSE Sans"/>
              </a:rPr>
              <a:t>•  BR-05.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Валидация</a:t>
            </a:r>
            <a:r>
              <a:rPr b="0" dirty="0">
                <a:solidFill>
                  <a:srgbClr val="0F2C68"/>
                </a:solidFill>
                <a:latin typeface="HSE Sans"/>
              </a:rPr>
              <a:t>: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пустые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поля</a:t>
            </a:r>
            <a:r>
              <a:rPr b="0" dirty="0">
                <a:solidFill>
                  <a:srgbClr val="0F2C68"/>
                </a:solidFill>
                <a:latin typeface="HSE Sans"/>
              </a:rPr>
              <a:t>,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инвертированные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диапазоны</a:t>
            </a:r>
            <a:r>
              <a:rPr b="0" dirty="0">
                <a:solidFill>
                  <a:srgbClr val="0F2C68"/>
                </a:solidFill>
                <a:latin typeface="HSE Sans"/>
              </a:rPr>
              <a:t>,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пересечения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между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школами</a:t>
            </a:r>
            <a:r>
              <a:rPr b="0" dirty="0">
                <a:solidFill>
                  <a:srgbClr val="0F2C68"/>
                </a:solidFill>
                <a:latin typeface="HSE Sans"/>
              </a:rPr>
              <a:t>.</a:t>
            </a:r>
            <a:endParaRPr lang="en-US" b="0" dirty="0">
              <a:solidFill>
                <a:srgbClr val="0F2C68"/>
              </a:solidFill>
              <a:latin typeface="HSE Sans"/>
            </a:endParaRPr>
          </a:p>
          <a:p>
            <a:pPr>
              <a:spcAft>
                <a:spcPts val="1300"/>
              </a:spcAft>
            </a:pPr>
            <a:endParaRPr b="0" dirty="0">
              <a:solidFill>
                <a:srgbClr val="0F2C68"/>
              </a:solidFill>
              <a:latin typeface="HSE Sans"/>
            </a:endParaRPr>
          </a:p>
          <a:p>
            <a:pPr>
              <a:spcAft>
                <a:spcPts val="1300"/>
              </a:spcAft>
            </a:pPr>
            <a:r>
              <a:rPr b="0" dirty="0">
                <a:solidFill>
                  <a:srgbClr val="0F2C68"/>
                </a:solidFill>
                <a:latin typeface="HSE Sans"/>
              </a:rPr>
              <a:t>•  KPI: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время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поиска</a:t>
            </a:r>
            <a:r>
              <a:rPr b="0" dirty="0">
                <a:solidFill>
                  <a:srgbClr val="0F2C68"/>
                </a:solidFill>
                <a:latin typeface="HSE Sans"/>
              </a:rPr>
              <a:t> ≤ 1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с</a:t>
            </a:r>
            <a:r>
              <a:rPr b="0" dirty="0">
                <a:solidFill>
                  <a:srgbClr val="0F2C68"/>
                </a:solidFill>
                <a:latin typeface="HSE Sans"/>
              </a:rPr>
              <a:t>,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точность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результата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на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эталоне</a:t>
            </a:r>
            <a:r>
              <a:rPr b="0" dirty="0">
                <a:solidFill>
                  <a:srgbClr val="0F2C68"/>
                </a:solidFill>
                <a:latin typeface="HSE Sans"/>
              </a:rPr>
              <a:t> ≥ 95%,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обработка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постановления</a:t>
            </a:r>
            <a:r>
              <a:rPr b="0" dirty="0">
                <a:solidFill>
                  <a:srgbClr val="0F2C68"/>
                </a:solidFill>
                <a:latin typeface="HSE Sans"/>
              </a:rPr>
              <a:t> ≤ 5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мин</a:t>
            </a:r>
            <a:r>
              <a:rPr b="0" dirty="0">
                <a:solidFill>
                  <a:srgbClr val="0F2C68"/>
                </a:solidFill>
                <a:latin typeface="HSE San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Капралова Е.А.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095" y="2890391"/>
            <a:ext cx="2743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 err="1">
                <a:solidFill>
                  <a:srgbClr val="0F2C68"/>
                </a:solidFill>
                <a:latin typeface="HSE Sans"/>
              </a:rPr>
              <a:t>Диаграмма</a:t>
            </a:r>
            <a:r>
              <a:rPr sz="32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3200" b="1" dirty="0" err="1">
                <a:solidFill>
                  <a:srgbClr val="0F2C68"/>
                </a:solidFill>
                <a:latin typeface="HSE Sans"/>
              </a:rPr>
              <a:t>прецедентов</a:t>
            </a:r>
            <a:endParaRPr sz="3200" b="1" dirty="0">
              <a:solidFill>
                <a:srgbClr val="0F2C68"/>
              </a:solidFill>
              <a:latin typeface="HSE Sans"/>
            </a:endParaRPr>
          </a:p>
        </p:txBody>
      </p:sp>
      <p:pic>
        <p:nvPicPr>
          <p:cNvPr id="6" name="Picture 5" descr="kapralova_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235" y="1150713"/>
            <a:ext cx="7842863" cy="53711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Капралова Е.А.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Функциональные и нефункциональные требования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95959"/>
                </a:solidFill>
                <a:latin typeface="HSE Sans"/>
              </a:rPr>
              <a:t>Требования формализованы по MoSCoW с трассировкой к бизнес-требованиям; все приняты автотестами и ручным регрессом на 4 реальных постановлениях.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532120" cy="4572000"/>
          </a:xfrm>
          <a:prstGeom prst="rect">
            <a:avLst/>
          </a:prstGeom>
          <a:solidFill>
            <a:srgbClr val="EAEFF7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>
              <a:spcAft>
                <a:spcPts val="600"/>
              </a:spcAft>
            </a:pPr>
            <a:r>
              <a:rPr sz="1600" b="1" dirty="0" err="1">
                <a:solidFill>
                  <a:srgbClr val="0F2C68"/>
                </a:solidFill>
                <a:latin typeface="HSE Sans"/>
              </a:rPr>
              <a:t>Функциональные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— 11 (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MoSCoW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F-01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Приём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постановлений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.doc / .docx / .pdf (Must)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F-02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Извлечение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текста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необходимости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— OCR (Must)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F-03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Автоопределение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структуры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табличной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части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(Must)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F-04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Метаданные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номер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дата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муниципалитет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(Should)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F-05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Извлечение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школ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правил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«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улица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—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дома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» (Must)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F-06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Нормализация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тип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чётность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диапазоны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исключения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(Must)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F-07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Сохранение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правил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реляционную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БД (Must)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F-08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Веб-форма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поиска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адресу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автокомплитом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(Must)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F-09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Ответ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школа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адрес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правило-основание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(Must)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F-10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Админ-панель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загрузка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парсинг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CRUD,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валидатор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(Should)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F-11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Выявление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пересечений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правил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между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школами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(Should)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737360"/>
            <a:ext cx="5532120" cy="4572000"/>
          </a:xfrm>
          <a:prstGeom prst="rect">
            <a:avLst/>
          </a:prstGeom>
          <a:solidFill>
            <a:srgbClr val="E3F0E6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>
              <a:spcAft>
                <a:spcPts val="600"/>
              </a:spcAft>
            </a:pPr>
            <a:r>
              <a:rPr sz="1600" b="1" dirty="0" err="1">
                <a:solidFill>
                  <a:srgbClr val="0F2C68"/>
                </a:solidFill>
                <a:latin typeface="HSE Sans"/>
              </a:rPr>
              <a:t>Нефункциональные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— 6 (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с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критериями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приёмки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NF-01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Отклик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поиска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≤ 1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≤ 1000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правил</a:t>
            </a:r>
            <a:endParaRPr sz="1400" b="0" dirty="0">
              <a:solidFill>
                <a:srgbClr val="595959"/>
              </a:solidFill>
              <a:latin typeface="HSE Sans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NF-02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Устойчивость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недоступности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DaData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(regex-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парсер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NF-03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Устойчивость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недоступности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GigaChat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повтор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запроса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NF-04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Открытый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бесплатный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стек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Python,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FastAPI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SQLite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NF-05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Модульность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пакеты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app/services/&lt;domain&gt;/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NF-06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Покрытие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ключевой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логики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авто-тестами</a:t>
            </a:r>
            <a:endParaRPr sz="1400" b="0" dirty="0">
              <a:solidFill>
                <a:srgbClr val="595959"/>
              </a:solidFill>
              <a:latin typeface="HS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Капралова Е.А.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890391"/>
            <a:ext cx="29083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 err="1">
                <a:solidFill>
                  <a:srgbClr val="0F2C68"/>
                </a:solidFill>
                <a:latin typeface="HSE Sans"/>
              </a:rPr>
              <a:t>Модель</a:t>
            </a:r>
            <a:r>
              <a:rPr sz="32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3200" b="1" dirty="0" err="1">
                <a:solidFill>
                  <a:srgbClr val="0F2C68"/>
                </a:solidFill>
                <a:latin typeface="HSE Sans"/>
              </a:rPr>
              <a:t>данных</a:t>
            </a:r>
            <a:endParaRPr sz="3200" b="1" dirty="0">
              <a:solidFill>
                <a:srgbClr val="0F2C68"/>
              </a:solidFill>
              <a:latin typeface="HSE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95959"/>
                </a:solidFill>
                <a:latin typeface="HSE Sans"/>
              </a:rPr>
              <a:t>Сущности модели: муниципалитет — школа — постановление — правило закрепления адреса.</a:t>
            </a:r>
          </a:p>
        </p:txBody>
      </p:sp>
      <p:pic>
        <p:nvPicPr>
          <p:cNvPr id="8" name="Picture 7" descr="kapralova_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882" y="875466"/>
            <a:ext cx="4821577" cy="55710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Мартюшев А.С.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Архитектура и стек технологий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0"/>
            <a:ext cx="11201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latin typeface="PT Sans"/>
              </a:rPr>
              <a:t>Стек: Python 3.11 · FastAPI + Jinja2 · SQLAlchemy 2.x + SQLite · pdfplumber/PyMuPDF + python-docx · Pydantic v2 · DaData · GigaChat · ocr.space</a:t>
            </a:r>
          </a:p>
        </p:txBody>
      </p:sp>
      <p:pic>
        <p:nvPicPr>
          <p:cNvPr id="7" name="Picture 6" descr="kapralova_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11201400" cy="41330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Мартюшев А.С.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Pipeline обработки постановления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8229600" cy="4709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91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Этап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Что происходит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Результат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1. Загрузка файла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Админ загружает .doc / .docx / .pdf через /admin/upload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Файл в storage/decrees/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2. Извлечение текста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pdfplumber → OCR (ocr.space) при пустом текстовом слое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Текст в storage/extracted/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3. Метаданные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4 регулярки: номер, дата (числ./текст.), муниципалитет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Номер, дата, муниципалитет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4. Структурный анализ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Диспетчер universal_parser выбирает стратегию по таблицам файла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MultiColumn / TwoColumn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5. LLM-fallback (если нужно)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GigaChat разбирает нестандартные документы (Берёзники .doc)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JSON правил школ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6. Нормализация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rule_normalizer: тип, чётность, диапазоны, exact_list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Канонические правила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7. Валидация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5 проверок: пустые поля, инверсии диапазонов, пересечения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Отчёт валидатора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8. Сохранение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SQLAlchemy: Municipality / School / Decree / AddressRule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Готово к поиску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Принцип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Структура до LLM. Для Перми LLM не вызывается вовсе.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Мгновенно и бесплатно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961120" y="1828800"/>
            <a:ext cx="29260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250" b="0">
                <a:solidFill>
                  <a:srgbClr val="0F2C68"/>
                </a:solidFill>
                <a:latin typeface="HSE Sans"/>
              </a:rPr>
              <a:t>•  MultiColumnParserStrategy: «№ | Школа | Улица | Дома» (Пермь .pdf/.docx) — без LLM.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0F2C68"/>
                </a:solidFill>
                <a:latin typeface="HSE Sans"/>
              </a:rPr>
              <a:t>•  TwoColumnParserStrategy: «Школа | Территория» (Балашиха .pdf) — структура + LLM на каждую школу.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0F2C68"/>
                </a:solidFill>
                <a:latin typeface="HSE Sans"/>
              </a:rPr>
              <a:t>•  Берёзники (.doc без таблиц) — полностью через LLM с retry/backoff на SSL/429.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0F2C68"/>
                </a:solidFill>
                <a:latin typeface="HSE Sans"/>
              </a:rPr>
              <a:t>•  Регексповый fallback на territory_text — страховка от пропусков LLM.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0F2C68"/>
                </a:solidFill>
                <a:latin typeface="HSE Sans"/>
              </a:rPr>
              <a:t>•  Идемпотентность: повторная загрузка не задваивает правила.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Мартюшев А.С.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Поиск школы по адресу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95959"/>
                </a:solidFill>
                <a:latin typeface="HSE Sans"/>
              </a:rPr>
              <a:t>DaData нормализует адрес и даёт подсказки; при недоступности — локальный regex-парсер. Толерантный матч локалити учитывает падежи и букву «ё»: «Пермь»↔«Перми», «Берёзники»↔«Березников».</a:t>
            </a:r>
          </a:p>
        </p:txBody>
      </p:sp>
      <p:pic>
        <p:nvPicPr>
          <p:cNvPr id="8" name="Picture 7" descr="galinov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04" y="1783080"/>
            <a:ext cx="8229600" cy="42428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Галинов О.Ю.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Зачем здесь LLM и что она делает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532120" cy="4572000"/>
          </a:xfrm>
          <a:prstGeom prst="rect">
            <a:avLst/>
          </a:prstGeom>
          <a:solidFill>
            <a:srgbClr val="EAEFF7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>
              <a:spcAft>
                <a:spcPts val="600"/>
              </a:spcAft>
            </a:pPr>
            <a:r>
              <a:rPr sz="1600" b="1" dirty="0" err="1">
                <a:solidFill>
                  <a:srgbClr val="0F2C68"/>
                </a:solidFill>
                <a:latin typeface="HSE Sans"/>
              </a:rPr>
              <a:t>Почему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LLM, 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а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не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парсер</a:t>
            </a:r>
            <a:endParaRPr sz="1600" b="1" dirty="0">
              <a:solidFill>
                <a:srgbClr val="0F2C68"/>
              </a:solidFill>
              <a:latin typeface="HSE Sans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Пермь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многоколоночная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таблица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«№|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Школа|Улица|Дома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»)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разбирается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структурно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—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без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LLM: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детерминированно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бесплатно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мгновенно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Балашиха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(.pdf,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2-й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колонке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свободный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текст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)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Берёзники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(.doc,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сплошной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нумерованный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текст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без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таблиц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)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структурно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формализуются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Юридический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текст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падежи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алиасы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улиц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исключения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«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все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дома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кроме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…», 5+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способов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записи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домов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—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жёсткий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парсер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пришлось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бы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дописывать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под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каждый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формат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Это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задача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information extraction —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извлечение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структуры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из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неструктурированного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текста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где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LLM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устойчива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вариативности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формулировок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Принцип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структурный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анализ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→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только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если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разобрать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→ LLM.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737360"/>
            <a:ext cx="5532120" cy="4572000"/>
          </a:xfrm>
          <a:prstGeom prst="rect">
            <a:avLst/>
          </a:prstGeom>
          <a:solidFill>
            <a:srgbClr val="E3F0E6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>
              <a:spcAft>
                <a:spcPts val="600"/>
              </a:spcAft>
            </a:pPr>
            <a:r>
              <a:rPr sz="1600" b="1" dirty="0" err="1">
                <a:solidFill>
                  <a:srgbClr val="0F2C68"/>
                </a:solidFill>
                <a:latin typeface="HSE Sans"/>
              </a:rPr>
              <a:t>Что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делает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LLM: 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вход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→ 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выход</a:t>
            </a:r>
            <a:endParaRPr sz="1600" b="1" dirty="0">
              <a:solidFill>
                <a:srgbClr val="0F2C68"/>
              </a:solidFill>
              <a:latin typeface="HSE Sans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Вход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сырой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текст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постановления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разбитый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чанк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одной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школе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Выход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строго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JSON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фиксированной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схемы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без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преамбулы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decree { number, date, municipality }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schools[] { name, address, rules[] }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rule { locality, street,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house_rule_raw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
       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house_rule_type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parity, range,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exact_list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}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Свободный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текст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→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проверяемые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правила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«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улица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—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дома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—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школа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».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200" b="0">
                <a:solidFill>
                  <a:srgbClr val="595959"/>
                </a:solidFill>
                <a:latin typeface="HSE Sans"/>
              </a:rPr>
              <a:t>Структурный разбор — для типовых таблиц; LLM — только для свободного текста, который иначе не формализовать.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Галинов О.Ю.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Как работает разбор: от промпта до проверки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532120" cy="4572000"/>
          </a:xfrm>
          <a:prstGeom prst="rect">
            <a:avLst/>
          </a:prstGeom>
          <a:solidFill>
            <a:srgbClr val="EAEFF7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>
              <a:spcAft>
                <a:spcPts val="600"/>
              </a:spcAft>
            </a:pPr>
            <a:r>
              <a:rPr sz="1600" b="1" dirty="0" err="1">
                <a:solidFill>
                  <a:srgbClr val="0F2C68"/>
                </a:solidFill>
                <a:latin typeface="HSE Sans"/>
              </a:rPr>
              <a:t>Конвейер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: 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промпт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→ JSON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GigaChat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официальная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доступность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из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РФ,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бесплатный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лимит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качество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русскоязычной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юриспруденции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Промпт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prompts.py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)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требует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строго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JSON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фиксированной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схемы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без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пояснений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Чанкинг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школам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splitter.py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):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один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компактный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запрос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школу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—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экономия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токенов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выше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качество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Очистка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ответа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clean_json_text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→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json.loads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→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валидация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Pydantic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v2.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737360"/>
            <a:ext cx="5532120" cy="4572000"/>
          </a:xfrm>
          <a:prstGeom prst="rect">
            <a:avLst/>
          </a:prstGeom>
          <a:solidFill>
            <a:srgbClr val="FDEFE3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>
              <a:spcAft>
                <a:spcPts val="600"/>
              </a:spcAft>
            </a:pPr>
            <a:r>
              <a:rPr sz="1600" b="1" dirty="0" err="1">
                <a:solidFill>
                  <a:srgbClr val="0F2C68"/>
                </a:solidFill>
                <a:latin typeface="HSE Sans"/>
              </a:rPr>
              <a:t>Надёжность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и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контроль</a:t>
            </a:r>
            <a:endParaRPr sz="1600" b="1" dirty="0">
              <a:solidFill>
                <a:srgbClr val="0F2C68"/>
              </a:solidFill>
              <a:latin typeface="HSE Sans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Невалидные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значения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отсекаются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границе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БД —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базу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попадает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только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корректная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структура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house_rule_raw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сохраняется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всегда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—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оператор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может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сверить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результат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оригиналом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Мягкая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деградация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ошибка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одного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чанка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валит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документ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;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merge_parsed_results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собирает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результат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проблемные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фрагменты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—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оператору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Контролируемость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/admin/parse-with-ai →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проверка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оператором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→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сохранение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БД.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200" b="0">
                <a:solidFill>
                  <a:srgbClr val="595959"/>
                </a:solidFill>
                <a:latin typeface="HSE Sans"/>
              </a:rPr>
              <a:t>Автоматический разбор не пишется в БД напрямую — он проходит обязательную проверку оператором перед сохранением.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Белов Е.А.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Стратегия тестирования и автоматизация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00" cy="3108960"/>
          </a:xfrm>
          <a:prstGeom prst="rect">
            <a:avLst/>
          </a:prstGeom>
          <a:solidFill>
            <a:srgbClr val="EAEFF7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/>
          <a:lstStyle/>
          <a:p>
            <a:pPr algn="ctr"/>
            <a:r>
              <a:rPr sz="1500" b="1">
                <a:solidFill>
                  <a:srgbClr val="0F2C68"/>
                </a:solidFill>
                <a:latin typeface="HSE Sans"/>
              </a:rPr>
              <a:t>Пирамида тестирования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Модульные (unit) на pytest: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1.  нормализация улицы, толерантный матч локалити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2.  типы правил (range, exact_list, up_to, all_except)</a:t>
            </a:r>
          </a:p>
          <a:p>
            <a:pPr>
              <a:spcBef>
                <a:spcPts val="300"/>
              </a:spcBef>
            </a:pPr>
            <a:endParaRPr sz="1250">
              <a:solidFill>
                <a:srgbClr val="595959"/>
              </a:solidFill>
              <a:latin typeface="HSE Sans"/>
            </a:endParaRP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Интеграционные на in-memory SQLite + FastAPI TestClient.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Ручные регрессионные сценарии TC-001 — TC-021 на 4 реальных постановлениях.</a:t>
            </a:r>
          </a:p>
          <a:p>
            <a:pPr algn="ctr"/>
            <a:r>
              <a:rPr sz="1500" b="1">
                <a:solidFill>
                  <a:srgbClr val="0F2C68"/>
                </a:solidFill>
                <a:latin typeface="HSE Sans"/>
              </a:rPr>
              <a:t>Autouse-фикстура _disable_external_services: тесты детерминированы.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486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F2C68"/>
                </a:solidFill>
                <a:latin typeface="HSE Sans"/>
              </a:rPr>
              <a:t>•  Каталог из 34 ручных тест-кейсов по 6 областям: поиск, парсинг, метаданные, валидатор, админка, устойчивость.</a:t>
            </a:r>
          </a:p>
          <a:p>
            <a:pPr lvl="1">
              <a:spcAft>
                <a:spcPts val="1000"/>
              </a:spcAft>
            </a:pPr>
            <a:r>
              <a:rPr sz="1200" b="0">
                <a:solidFill>
                  <a:srgbClr val="595959"/>
                </a:solidFill>
                <a:latin typeface="HSE Sans"/>
              </a:rPr>
              <a:t>•  Чек-листы по 4 ключевым возможностям применялись при приёмке merge в main.</a:t>
            </a:r>
          </a:p>
          <a:p>
            <a:pPr lvl="1">
              <a:spcAft>
                <a:spcPts val="1000"/>
              </a:spcAft>
            </a:pPr>
            <a:r>
              <a:rPr sz="1200" b="0">
                <a:solidFill>
                  <a:srgbClr val="595959"/>
                </a:solidFill>
                <a:latin typeface="HSE Sans"/>
              </a:rPr>
              <a:t>•  Тестовые данные: 4 реальных постановления (Пермь .pdf/.docx, Балашиха .pdf, Берёзники .doc) + синтетические фикстуры.</a:t>
            </a:r>
          </a:p>
          <a:p>
            <a:pPr lvl="1">
              <a:spcAft>
                <a:spcPts val="1000"/>
              </a:spcAft>
            </a:pPr>
            <a:r>
              <a:rPr sz="1200" b="0">
                <a:solidFill>
                  <a:srgbClr val="595959"/>
                </a:solidFill>
                <a:latin typeface="HSE Sans"/>
              </a:rPr>
              <a:t>•  Полный ручной регресс занимает ≈30 минут — перед демонстрацией команде.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2C68"/>
                </a:solidFill>
                <a:latin typeface="HSE Sans"/>
              </a:rPr>
              <a:t>•  Виды: модульное, интеграционное, ручное функциональное, регрессионное, нагрузочное.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2C68"/>
                </a:solidFill>
                <a:latin typeface="HSE Sans"/>
              </a:rPr>
              <a:t>•  Покрыто: парсеры, нормализация, поиск, валидатор; in-memory SQLite, без сети.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2C68"/>
                </a:solidFill>
                <a:latin typeface="HSE Sans"/>
              </a:rPr>
              <a:t>•  Перехвачены 5 случаев регрессии (3 поймали автотесты, 2 — ручной прогон).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Белов Е.А.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Результаты тестирования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5486400" cy="29077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Метрика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Значение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Целевое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Статус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Комментарий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Время отклика (медиана)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≈ 50 мс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&lt; 1 с (NF-01)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1000 поисков подряд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Время отклика P95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≈ 180 мс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&lt; 1 с (NF-01)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OK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Запас на 2× рост правил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Доля прохождения автотестов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Перед каждым merge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Регрессии за период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5 (все устранены)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0 неустранённых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OK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3 поймали автотесты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D7D31"/>
                </a:solidFill>
                <a:latin typeface="HSE Sans"/>
              </a:rPr>
              <a:t>Нагрузочное тестирование на ≈700 правилах (MacBook Pro M1 / SQLite).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178659"/>
              </p:ext>
            </p:extLst>
          </p:nvPr>
        </p:nvGraphicFramePr>
        <p:xfrm>
          <a:off x="6400800" y="2020824"/>
          <a:ext cx="5120640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Серьёзность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Найдено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Устранено / в ТД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2 устр., 1 — ТД (auth)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Major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4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4 устранены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Minor/Trivial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595959"/>
                          </a:solidFill>
                          <a:latin typeface="HSE Sans"/>
                        </a:rPr>
                        <a:t>2 </a:t>
                      </a:r>
                      <a:r>
                        <a:rPr sz="1200" b="0" dirty="0" err="1">
                          <a:solidFill>
                            <a:srgbClr val="595959"/>
                          </a:solidFill>
                          <a:latin typeface="HSE Sans"/>
                        </a:rPr>
                        <a:t>устр</a:t>
                      </a:r>
                      <a:r>
                        <a:rPr sz="1200" b="0" dirty="0">
                          <a:solidFill>
                            <a:srgbClr val="595959"/>
                          </a:solidFill>
                          <a:latin typeface="HSE Sans"/>
                        </a:rPr>
                        <a:t>., 1 — ТД (</a:t>
                      </a:r>
                      <a:r>
                        <a:rPr sz="1200" b="0" dirty="0" err="1">
                          <a:solidFill>
                            <a:srgbClr val="595959"/>
                          </a:solidFill>
                          <a:latin typeface="HSE Sans"/>
                        </a:rPr>
                        <a:t>дата</a:t>
                      </a:r>
                      <a:r>
                        <a:rPr sz="1200" b="0" dirty="0">
                          <a:solidFill>
                            <a:srgbClr val="595959"/>
                          </a:solidFill>
                          <a:latin typeface="HSE Sans"/>
                        </a:rPr>
                        <a:t>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D7D31"/>
                </a:solidFill>
                <a:latin typeface="HSE Sans"/>
              </a:rPr>
              <a:t>Журнал из 10 значимых дефектов: 8 устранены, 2 приняты как технический долг учебного прототипа.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28616"/>
            <a:ext cx="11155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F2C68"/>
                </a:solidFill>
                <a:latin typeface="HSE Sans"/>
              </a:rPr>
              <a:t>•  34 тест-кейса, чек-листы, 5 видов тестирования; критерий приёмки изменений — «все автотесты зелёные».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2C68"/>
                </a:solidFill>
                <a:latin typeface="HSE Sans"/>
              </a:rPr>
              <a:t>•  Подтверждены требования NF-01 (отклик), функциональные FR-01…FR-11 — на реальных постановлениях.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2C68"/>
                </a:solidFill>
                <a:latin typeface="HSE Sans"/>
              </a:rPr>
              <a:t>•  Воспроизводимость: BUG-001 (path traversal), BUG-010 (continuation-строки) устранены ранее всего.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Беляева К.С.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Заключение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5778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550" b="0">
                <a:solidFill>
                  <a:srgbClr val="0F2C68"/>
                </a:solidFill>
                <a:latin typeface="HSE Sans"/>
              </a:rPr>
              <a:t>•  Цель достигнута: веб-сервис разбирает постановления и ищет школу по адресу.</a:t>
            </a:r>
          </a:p>
          <a:p>
            <a:pPr>
              <a:spcAft>
                <a:spcPts val="1100"/>
              </a:spcAft>
            </a:pPr>
            <a:r>
              <a:rPr sz="1550" b="0">
                <a:solidFill>
                  <a:srgbClr val="0F2C68"/>
                </a:solidFill>
                <a:latin typeface="HSE Sans"/>
              </a:rPr>
              <a:t>•  Покрыты все 3 формата постановлений 3 муниципалитетов; обработка Перми идёт без LLM.</a:t>
            </a:r>
          </a:p>
          <a:p>
            <a:pPr>
              <a:spcAft>
                <a:spcPts val="1100"/>
              </a:spcAft>
            </a:pPr>
            <a:r>
              <a:rPr sz="1550" b="0">
                <a:solidFill>
                  <a:srgbClr val="0F2C68"/>
                </a:solidFill>
                <a:latin typeface="HSE Sans"/>
              </a:rPr>
              <a:t>•  11 функциональных и 6 нефункциональных требований реализованы и приняты тестами.</a:t>
            </a:r>
          </a:p>
          <a:p>
            <a:pPr>
              <a:spcAft>
                <a:spcPts val="1100"/>
              </a:spcAft>
            </a:pPr>
            <a:r>
              <a:rPr sz="1550" b="0">
                <a:solidFill>
                  <a:srgbClr val="0F2C68"/>
                </a:solidFill>
                <a:latin typeface="HSE Sans"/>
              </a:rPr>
              <a:t>•  Структурный анализ до LLM + три уровня fallback (DaData, GigaChat, ocr.space) — устойчивость.</a:t>
            </a:r>
          </a:p>
          <a:p>
            <a:pPr>
              <a:spcAft>
                <a:spcPts val="1100"/>
              </a:spcAft>
            </a:pPr>
            <a:r>
              <a:rPr sz="1550" b="0">
                <a:solidFill>
                  <a:srgbClr val="0F2C68"/>
                </a:solidFill>
                <a:latin typeface="HSE Sans"/>
              </a:rPr>
              <a:t>•  Командная работа из 6 ролей показала полный жизненный цикл разработки.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737360"/>
            <a:ext cx="5303520" cy="3200400"/>
          </a:xfrm>
          <a:prstGeom prst="rect">
            <a:avLst/>
          </a:prstGeom>
          <a:solidFill>
            <a:srgbClr val="FDEFE3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/>
          <a:lstStyle/>
          <a:p>
            <a:pPr algn="ctr"/>
            <a:r>
              <a:rPr sz="1500" b="1" dirty="0" err="1">
                <a:solidFill>
                  <a:srgbClr val="ED7D31"/>
                </a:solidFill>
                <a:latin typeface="HSE Sans"/>
              </a:rPr>
              <a:t>Направления</a:t>
            </a:r>
            <a:r>
              <a:rPr sz="1500" b="1" dirty="0">
                <a:solidFill>
                  <a:srgbClr val="ED7D31"/>
                </a:solidFill>
                <a:latin typeface="HSE Sans"/>
              </a:rPr>
              <a:t> </a:t>
            </a:r>
            <a:r>
              <a:rPr sz="1500" b="1" dirty="0" err="1">
                <a:solidFill>
                  <a:srgbClr val="ED7D31"/>
                </a:solidFill>
                <a:latin typeface="HSE Sans"/>
              </a:rPr>
              <a:t>развития</a:t>
            </a:r>
            <a:endParaRPr sz="1500" b="1" dirty="0">
              <a:solidFill>
                <a:srgbClr val="ED7D31"/>
              </a:solidFill>
              <a:latin typeface="HSE Sans"/>
            </a:endParaRPr>
          </a:p>
          <a:p>
            <a:pPr>
              <a:spcBef>
                <a:spcPts val="300"/>
              </a:spcBef>
            </a:pPr>
            <a:r>
              <a:rPr sz="1400" dirty="0" err="1">
                <a:solidFill>
                  <a:srgbClr val="595959"/>
                </a:solidFill>
                <a:latin typeface="HSE Sans"/>
              </a:rPr>
              <a:t>Аутентификация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админ-панели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и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закрытие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path traversal (BUG-002).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595959"/>
                </a:solidFill>
                <a:latin typeface="HSE Sans"/>
              </a:rPr>
              <a:t>OCR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и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цепочки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LLM-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вызовов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—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в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фоновые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задачи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595959"/>
                </a:solidFill>
                <a:latin typeface="HSE Sans"/>
              </a:rPr>
              <a:t>Alembic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для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миграций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;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переход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с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SQLite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на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PostgreSQL.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595959"/>
                </a:solidFill>
                <a:latin typeface="HSE Sans"/>
              </a:rPr>
              <a:t>SQL-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индекс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по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нормализованной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улице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вместо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линейного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обхода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595959"/>
                </a:solidFill>
                <a:latin typeface="HSE Sans"/>
              </a:rPr>
              <a:t>REST-API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для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мобильных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и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региональных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ГИС-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порталов.Интеграция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с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Госуслугами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для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автозаполнения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заявления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Команда БА-25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2103120"/>
            <a:ext cx="9235440" cy="2011680"/>
          </a:xfrm>
          <a:prstGeom prst="rect">
            <a:avLst/>
          </a:prstGeom>
          <a:solidFill>
            <a:srgbClr val="0F2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dirty="0" err="1">
                <a:solidFill>
                  <a:srgbClr val="FFFFFF"/>
                </a:solidFill>
                <a:latin typeface="HSE Sans"/>
              </a:rPr>
              <a:t>Благодар</a:t>
            </a:r>
            <a:r>
              <a:rPr lang="ru-RU" sz="4000" b="1" dirty="0">
                <a:solidFill>
                  <a:srgbClr val="FFFFFF"/>
                </a:solidFill>
                <a:latin typeface="HSE Sans"/>
              </a:rPr>
              <a:t>им</a:t>
            </a:r>
            <a:r>
              <a:rPr sz="4000" b="1" dirty="0">
                <a:solidFill>
                  <a:srgbClr val="FFFFFF"/>
                </a:solidFill>
                <a:latin typeface="HSE Sans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HSE Sans"/>
              </a:rPr>
              <a:t>за</a:t>
            </a:r>
            <a:r>
              <a:rPr sz="4000" b="1" dirty="0">
                <a:solidFill>
                  <a:srgbClr val="FFFFFF"/>
                </a:solidFill>
                <a:latin typeface="HSE Sans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HSE Sans"/>
              </a:rPr>
              <a:t>внимание</a:t>
            </a:r>
            <a:r>
              <a:rPr sz="4000" b="1" dirty="0">
                <a:solidFill>
                  <a:srgbClr val="FFFFFF"/>
                </a:solidFill>
                <a:latin typeface="HSE Sans"/>
              </a:rPr>
              <a:t>!</a:t>
            </a:r>
          </a:p>
          <a:p>
            <a:pPr algn="ctr"/>
            <a:r>
              <a:rPr sz="2000" dirty="0" err="1">
                <a:solidFill>
                  <a:srgbClr val="CFDAEE"/>
                </a:solidFill>
                <a:latin typeface="HSE Sans"/>
              </a:rPr>
              <a:t>Готовы</a:t>
            </a:r>
            <a:r>
              <a:rPr sz="2000" dirty="0">
                <a:solidFill>
                  <a:srgbClr val="CFDAEE"/>
                </a:solidFill>
                <a:latin typeface="HSE Sans"/>
              </a:rPr>
              <a:t> </a:t>
            </a:r>
            <a:r>
              <a:rPr sz="2000" dirty="0" err="1">
                <a:solidFill>
                  <a:srgbClr val="CFDAEE"/>
                </a:solidFill>
                <a:latin typeface="HSE Sans"/>
              </a:rPr>
              <a:t>ответить</a:t>
            </a:r>
            <a:r>
              <a:rPr sz="2000" dirty="0">
                <a:solidFill>
                  <a:srgbClr val="CFDAEE"/>
                </a:solidFill>
                <a:latin typeface="HSE Sans"/>
              </a:rPr>
              <a:t> </a:t>
            </a:r>
            <a:r>
              <a:rPr sz="2000" dirty="0" err="1">
                <a:solidFill>
                  <a:srgbClr val="CFDAEE"/>
                </a:solidFill>
                <a:latin typeface="HSE Sans"/>
              </a:rPr>
              <a:t>на</a:t>
            </a:r>
            <a:r>
              <a:rPr sz="2000" dirty="0">
                <a:solidFill>
                  <a:srgbClr val="CFDAEE"/>
                </a:solidFill>
                <a:latin typeface="HSE Sans"/>
              </a:rPr>
              <a:t> </a:t>
            </a:r>
            <a:r>
              <a:rPr sz="2000" dirty="0" err="1">
                <a:solidFill>
                  <a:srgbClr val="CFDAEE"/>
                </a:solidFill>
                <a:latin typeface="HSE Sans"/>
              </a:rPr>
              <a:t>ваши</a:t>
            </a:r>
            <a:r>
              <a:rPr sz="2000" dirty="0">
                <a:solidFill>
                  <a:srgbClr val="CFDAEE"/>
                </a:solidFill>
                <a:latin typeface="HSE Sans"/>
              </a:rPr>
              <a:t> </a:t>
            </a:r>
            <a:r>
              <a:rPr sz="2000" dirty="0" err="1">
                <a:solidFill>
                  <a:srgbClr val="CFDAEE"/>
                </a:solidFill>
                <a:latin typeface="HSE Sans"/>
              </a:rPr>
              <a:t>вопросы</a:t>
            </a:r>
            <a:endParaRPr sz="2000" dirty="0">
              <a:solidFill>
                <a:srgbClr val="CFDAEE"/>
              </a:solidFill>
              <a:latin typeface="HSE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3040" y="4572000"/>
            <a:ext cx="9235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C68"/>
                </a:solidFill>
                <a:latin typeface="HSE Sans"/>
              </a:rPr>
              <a:t>Команда БА-25, проект «Школа по адресу»</a:t>
            </a:r>
          </a:p>
          <a:p>
            <a:pPr algn="ctr"/>
            <a:r>
              <a:rPr sz="1400">
                <a:solidFill>
                  <a:srgbClr val="595959"/>
                </a:solidFill>
                <a:latin typeface="HSE Sans"/>
              </a:rPr>
              <a:t>НИУ ВШЭ — Пермь · Бизнес-аналитика</a:t>
            </a:r>
          </a:p>
          <a:p>
            <a:pPr algn="ctr"/>
            <a:r>
              <a:rPr sz="1400">
                <a:solidFill>
                  <a:srgbClr val="595959"/>
                </a:solidFill>
                <a:latin typeface="HSE Sans"/>
              </a:rPr>
              <a:t>Беляева, Туксаитова, Капралова, Мартюшев, Галинов, Белов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1933</TotalTime>
  <Words>2364</Words>
  <Application>Microsoft Macintosh PowerPoint</Application>
  <PresentationFormat>Широкоэкранный</PresentationFormat>
  <Paragraphs>296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HSE Sans</vt:lpstr>
      <vt:lpstr>PT Sans</vt:lpstr>
      <vt:lpstr>Office Theme</vt:lpstr>
      <vt:lpstr>Разработка веб-сервиса определения школы по адресу проживания на основе муниципальных постановлений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Белов Егор Александрович</cp:lastModifiedBy>
  <cp:revision>103</cp:revision>
  <cp:lastPrinted>2021-11-11T13:08:42Z</cp:lastPrinted>
  <dcterms:created xsi:type="dcterms:W3CDTF">2021-11-11T08:52:47Z</dcterms:created>
  <dcterms:modified xsi:type="dcterms:W3CDTF">2026-06-19T06:29:27Z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